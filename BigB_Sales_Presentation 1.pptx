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g B Consulting – Growth Strategy Proposal for ABC Corporation" id="{742E561B-2E8B-402C-B21E-8FCAD4047269}">
          <p14:sldIdLst>
            <p14:sldId id="2561"/>
          </p14:sldIdLst>
        </p14:section>
        <p14:section name="Introduction and Context" id="{17BF2934-2DDC-4BC1-B396-12FDD2FDC455}">
          <p14:sldIdLst>
            <p14:sldId id="2562"/>
            <p14:sldId id="2563"/>
          </p14:sldIdLst>
        </p14:section>
        <p14:section name="Why Big B Consulting?" id="{03FC61A1-F28C-4885-A2CA-04C67F1DF748}">
          <p14:sldIdLst>
            <p14:sldId id="2564"/>
            <p14:sldId id="2565"/>
          </p14:sldIdLst>
        </p14:section>
        <p14:section name="Proposed Scope of Work" id="{5F4E406C-CD18-4F96-AA5E-BD1C4F649C56}">
          <p14:sldIdLst>
            <p14:sldId id="2566"/>
            <p14:sldId id="2567"/>
          </p14:sldIdLst>
        </p14:section>
        <p14:section name="Value Proposition and Next Steps" id="{1EB35CB0-45F9-497C-B3FF-1EFD7C8201CD}">
          <p14:sldIdLst>
            <p14:sldId id="2568"/>
            <p14:sldId id="25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EB9D2B-FF43-4D56-8433-41D41EA2D5F5}" v="11" dt="2025-11-20T12:51:16.536"/>
    <p1510:client id="{CBBE686B-0CC2-425D-885C-CC96CD0B4068}" v="1" dt="2025-11-20T13:56:47.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422FF-DB0F-4C8D-A311-1527E43B3BD3}" type="datetimeFigureOut">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8E265-AF69-4935-B36F-158E4E7EE46F}" type="slidenum">
              <a:t>‹#›</a:t>
            </a:fld>
            <a:endParaRPr lang="en-US"/>
          </a:p>
        </p:txBody>
      </p:sp>
    </p:spTree>
    <p:extLst>
      <p:ext uri="{BB962C8B-B14F-4D97-AF65-F5344CB8AC3E}">
        <p14:creationId xmlns:p14="http://schemas.microsoft.com/office/powerpoint/2010/main" val="316364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6FDDF4F-068D-478B-9E24-8423F75BA6CE}" type="slidenum">
              <a:t>1</a:t>
            </a:fld>
            <a:endParaRPr lang="en-US"/>
          </a:p>
        </p:txBody>
      </p:sp>
    </p:spTree>
    <p:extLst>
      <p:ext uri="{BB962C8B-B14F-4D97-AF65-F5344CB8AC3E}">
        <p14:creationId xmlns:p14="http://schemas.microsoft.com/office/powerpoint/2010/main" val="2531234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ABC’s Challenge</a:t>
            </a:r>
          </a:p>
        </p:txBody>
      </p:sp>
      <p:sp>
        <p:nvSpPr>
          <p:cNvPr id="4" name="Slide Number Placeholder 3"/>
          <p:cNvSpPr>
            <a:spLocks noGrp="1"/>
          </p:cNvSpPr>
          <p:nvPr>
            <p:ph type="sldNum" sz="quarter" idx="5"/>
          </p:nvPr>
        </p:nvSpPr>
        <p:spPr/>
        <p:txBody>
          <a:bodyPr/>
          <a:lstStyle/>
          <a:p>
            <a:fld id="{D6FDDF4F-068D-478B-9E24-8423F75BA6CE}" type="slidenum">
              <a:t>2</a:t>
            </a:fld>
            <a:endParaRPr lang="en-US"/>
          </a:p>
        </p:txBody>
      </p:sp>
    </p:spTree>
    <p:extLst>
      <p:ext uri="{BB962C8B-B14F-4D97-AF65-F5344CB8AC3E}">
        <p14:creationId xmlns:p14="http://schemas.microsoft.com/office/powerpoint/2010/main" val="211444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ABC Corporation, a ₹30 billion ($485 million) multinational headquartered in Mumbai, is facing stagnation in its widget division. The company is under competitive pressure and lacks a clear roadmap for future growth and innovation. This situation has created an urgent need for a comprehensive strategy that can revitalize the division and position it for sustainable success. The challenge lies in identifying new growth opportunities, addressing market dynamics, and ensuring that any proposed strategy aligns with ABC’s organizational culture and long-term objectives. Without a clear plan, ABC risks losing market share and profitability, making this engagement critical for its future trajectory.</a:t>
            </a:r>
          </a:p>
        </p:txBody>
      </p:sp>
      <p:sp>
        <p:nvSpPr>
          <p:cNvPr id="4" name="Slide Number Placeholder 3"/>
          <p:cNvSpPr>
            <a:spLocks noGrp="1"/>
          </p:cNvSpPr>
          <p:nvPr>
            <p:ph type="sldNum" sz="quarter" idx="5"/>
          </p:nvPr>
        </p:nvSpPr>
        <p:spPr/>
        <p:txBody>
          <a:bodyPr/>
          <a:lstStyle/>
          <a:p>
            <a:fld id="{D6FDDF4F-068D-478B-9E24-8423F75BA6CE}" type="slidenum">
              <a:t>3</a:t>
            </a:fld>
            <a:endParaRPr lang="en-US"/>
          </a:p>
        </p:txBody>
      </p:sp>
    </p:spTree>
    <p:extLst>
      <p:ext uri="{BB962C8B-B14F-4D97-AF65-F5344CB8AC3E}">
        <p14:creationId xmlns:p14="http://schemas.microsoft.com/office/powerpoint/2010/main" val="909321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Firm’s Strengths and Differentiators</a:t>
            </a:r>
          </a:p>
        </p:txBody>
      </p:sp>
      <p:sp>
        <p:nvSpPr>
          <p:cNvPr id="4" name="Slide Number Placeholder 3"/>
          <p:cNvSpPr>
            <a:spLocks noGrp="1"/>
          </p:cNvSpPr>
          <p:nvPr>
            <p:ph type="sldNum" sz="quarter" idx="5"/>
          </p:nvPr>
        </p:nvSpPr>
        <p:spPr/>
        <p:txBody>
          <a:bodyPr/>
          <a:lstStyle/>
          <a:p>
            <a:fld id="{D6FDDF4F-068D-478B-9E24-8423F75BA6CE}" type="slidenum">
              <a:t>4</a:t>
            </a:fld>
            <a:endParaRPr lang="en-US"/>
          </a:p>
        </p:txBody>
      </p:sp>
    </p:spTree>
    <p:extLst>
      <p:ext uri="{BB962C8B-B14F-4D97-AF65-F5344CB8AC3E}">
        <p14:creationId xmlns:p14="http://schemas.microsoft.com/office/powerpoint/2010/main" val="2967137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Big B Consulting brings proven expertise in crafting growth strategies and driving organizational transformation. The firm leverages deep industry knowledge and global best practices to deliver tailored solutions that meet client-specific challenges. Big B’s collaborative approach ensures cultural alignment and stakeholder engagement throughout the process. With a strong track record of delivering measurable results, Big B positions itself as a trusted partner capable of guiding ABC through complex strategic decisions. The firm’s differentiators include its ability to combine analytical rigor with practical implementation, ensuring strategies are not only visionary but also executable.</a:t>
            </a:r>
          </a:p>
        </p:txBody>
      </p:sp>
      <p:sp>
        <p:nvSpPr>
          <p:cNvPr id="4" name="Slide Number Placeholder 3"/>
          <p:cNvSpPr>
            <a:spLocks noGrp="1"/>
          </p:cNvSpPr>
          <p:nvPr>
            <p:ph type="sldNum" sz="quarter" idx="5"/>
          </p:nvPr>
        </p:nvSpPr>
        <p:spPr/>
        <p:txBody>
          <a:bodyPr/>
          <a:lstStyle/>
          <a:p>
            <a:fld id="{D6FDDF4F-068D-478B-9E24-8423F75BA6CE}" type="slidenum">
              <a:t>5</a:t>
            </a:fld>
            <a:endParaRPr lang="en-US"/>
          </a:p>
        </p:txBody>
      </p:sp>
    </p:spTree>
    <p:extLst>
      <p:ext uri="{BB962C8B-B14F-4D97-AF65-F5344CB8AC3E}">
        <p14:creationId xmlns:p14="http://schemas.microsoft.com/office/powerpoint/2010/main" val="1526342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Consulting Engagement Deliverables</a:t>
            </a:r>
          </a:p>
        </p:txBody>
      </p:sp>
      <p:sp>
        <p:nvSpPr>
          <p:cNvPr id="4" name="Slide Number Placeholder 3"/>
          <p:cNvSpPr>
            <a:spLocks noGrp="1"/>
          </p:cNvSpPr>
          <p:nvPr>
            <p:ph type="sldNum" sz="quarter" idx="5"/>
          </p:nvPr>
        </p:nvSpPr>
        <p:spPr/>
        <p:txBody>
          <a:bodyPr/>
          <a:lstStyle/>
          <a:p>
            <a:fld id="{D6FDDF4F-068D-478B-9E24-8423F75BA6CE}" type="slidenum">
              <a:t>6</a:t>
            </a:fld>
            <a:endParaRPr lang="en-US"/>
          </a:p>
        </p:txBody>
      </p:sp>
    </p:spTree>
    <p:extLst>
      <p:ext uri="{BB962C8B-B14F-4D97-AF65-F5344CB8AC3E}">
        <p14:creationId xmlns:p14="http://schemas.microsoft.com/office/powerpoint/2010/main" val="1392030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scope of work for Big B Consulting includes five key components: (1) Conducting a comprehensive market and competitive analysis to understand industry trends, competitor strategies, and emerging technologies; (2) Identifying new growth opportunities such as market expansion, product diversification, and strategic partnerships; (3) Developing a detailed growth strategy that outlines short-term and long-term objectives, resource allocation, and risk mitigation plans; (4) Creating an implementation roadmap with clear timelines, milestones, and key performance indicators to ensure effective execution; and (5) Providing change management support to align stakeholders, build organizational capabilities, and facilitate smooth adoption of the new strategy. These deliverables are designed to provide ABC with actionable insights and a structured path to achieve sustainable growth.</a:t>
            </a:r>
          </a:p>
        </p:txBody>
      </p:sp>
      <p:sp>
        <p:nvSpPr>
          <p:cNvPr id="4" name="Slide Number Placeholder 3"/>
          <p:cNvSpPr>
            <a:spLocks noGrp="1"/>
          </p:cNvSpPr>
          <p:nvPr>
            <p:ph type="sldNum" sz="quarter" idx="5"/>
          </p:nvPr>
        </p:nvSpPr>
        <p:spPr/>
        <p:txBody>
          <a:bodyPr/>
          <a:lstStyle/>
          <a:p>
            <a:fld id="{D6FDDF4F-068D-478B-9E24-8423F75BA6CE}" type="slidenum">
              <a:t>7</a:t>
            </a:fld>
            <a:endParaRPr lang="en-US"/>
          </a:p>
        </p:txBody>
      </p:sp>
    </p:spTree>
    <p:extLst>
      <p:ext uri="{BB962C8B-B14F-4D97-AF65-F5344CB8AC3E}">
        <p14:creationId xmlns:p14="http://schemas.microsoft.com/office/powerpoint/2010/main" val="329938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Delivering Impact and Engagement Plan</a:t>
            </a:r>
          </a:p>
        </p:txBody>
      </p:sp>
      <p:sp>
        <p:nvSpPr>
          <p:cNvPr id="4" name="Slide Number Placeholder 3"/>
          <p:cNvSpPr>
            <a:spLocks noGrp="1"/>
          </p:cNvSpPr>
          <p:nvPr>
            <p:ph type="sldNum" sz="quarter" idx="5"/>
          </p:nvPr>
        </p:nvSpPr>
        <p:spPr/>
        <p:txBody>
          <a:bodyPr/>
          <a:lstStyle/>
          <a:p>
            <a:fld id="{D6FDDF4F-068D-478B-9E24-8423F75BA6CE}" type="slidenum">
              <a:t>8</a:t>
            </a:fld>
            <a:endParaRPr lang="en-US"/>
          </a:p>
        </p:txBody>
      </p:sp>
    </p:spTree>
    <p:extLst>
      <p:ext uri="{BB962C8B-B14F-4D97-AF65-F5344CB8AC3E}">
        <p14:creationId xmlns:p14="http://schemas.microsoft.com/office/powerpoint/2010/main" val="275969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Big B Consulting offers a compelling value proposition by delivering actionable insights and strategies that drive sustainable growth. The firm’s approach ensures that solutions are customized to ABC’s unique challenges and operational realities. By combining strategic vision with practical execution, Big B helps clients achieve measurable outcomes and long-term success. The next steps include scheduling a detailed scoping session to refine objectives, finalize engagement terms, and initiate the project roadmap. This collaborative process will ensure alignment between Big B and ABC, setting the foundation for a successful partnership that transforms ABC’s widget division into a growth engine.</a:t>
            </a:r>
          </a:p>
        </p:txBody>
      </p:sp>
      <p:sp>
        <p:nvSpPr>
          <p:cNvPr id="4" name="Slide Number Placeholder 3"/>
          <p:cNvSpPr>
            <a:spLocks noGrp="1"/>
          </p:cNvSpPr>
          <p:nvPr>
            <p:ph type="sldNum" sz="quarter" idx="5"/>
          </p:nvPr>
        </p:nvSpPr>
        <p:spPr/>
        <p:txBody>
          <a:bodyPr/>
          <a:lstStyle/>
          <a:p>
            <a:fld id="{D6FDDF4F-068D-478B-9E24-8423F75BA6CE}" type="slidenum">
              <a:t>9</a:t>
            </a:fld>
            <a:endParaRPr lang="en-US"/>
          </a:p>
        </p:txBody>
      </p:sp>
    </p:spTree>
    <p:extLst>
      <p:ext uri="{BB962C8B-B14F-4D97-AF65-F5344CB8AC3E}">
        <p14:creationId xmlns:p14="http://schemas.microsoft.com/office/powerpoint/2010/main" val="2069992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11/20/2025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11/20/2025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11/20/2025</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11/20/2025</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11/20/2025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11/20/2025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11/20/2025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11/20/2025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11/20/2025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11/20/2025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11/20/2025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11/20/2025</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11/20/2025</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11/20/2025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11/20/2025</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11/20/2025</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11/20/2025</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11/20/2025</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11/20/2025</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11/20/2025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11/20/2025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11/20/2025</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11/20/2025</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11/20/2025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11/20/2025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11/20/2025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11/20/2025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11/20/2025</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11/20/2025</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11/20/2025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11/20/2025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11/20/2025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11/20/2025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11/20/2025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45A8D-BE30-FDFE-6B70-BBBB13AF606F}"/>
              </a:ext>
            </a:extLst>
          </p:cNvPr>
          <p:cNvSpPr>
            <a:spLocks noGrp="1"/>
          </p:cNvSpPr>
          <p:nvPr>
            <p:ph type="ctrTitle"/>
          </p:nvPr>
        </p:nvSpPr>
        <p:spPr>
          <a:xfrm>
            <a:off x="402336" y="765750"/>
            <a:ext cx="9635668" cy="3455113"/>
          </a:xfrm>
        </p:spPr>
        <p:txBody>
          <a:bodyPr anchor="t">
            <a:normAutofit/>
          </a:bodyPr>
          <a:lstStyle/>
          <a:p>
            <a:r>
              <a:rPr lang="en-US" sz="5500"/>
              <a:t>Big B Consulting – Growth Strategy Proposal for ABC Corporation</a:t>
            </a:r>
          </a:p>
        </p:txBody>
      </p:sp>
      <p:sp>
        <p:nvSpPr>
          <p:cNvPr id="3" name="Subtitle 2">
            <a:extLst>
              <a:ext uri="{FF2B5EF4-FFF2-40B4-BE49-F238E27FC236}">
                <a16:creationId xmlns:a16="http://schemas.microsoft.com/office/drawing/2014/main" id="{84A57D07-49B0-6F44-AA6A-8DF70629F298}"/>
              </a:ext>
            </a:extLst>
          </p:cNvPr>
          <p:cNvSpPr>
            <a:spLocks noGrp="1"/>
          </p:cNvSpPr>
          <p:nvPr>
            <p:ph type="subTitle" idx="1"/>
          </p:nvPr>
        </p:nvSpPr>
        <p:spPr>
          <a:xfrm>
            <a:off x="429428" y="5271844"/>
            <a:ext cx="9613065" cy="1001356"/>
          </a:xfrm>
        </p:spPr>
        <p:txBody>
          <a:bodyPr anchor="ctr">
            <a:normAutofit/>
          </a:bodyPr>
          <a:lstStyle/>
          <a:p>
            <a:r>
              <a:rPr lang="en-US"/>
              <a:t>Strategic plans to accelerate business expansion</a:t>
            </a:r>
          </a:p>
        </p:txBody>
      </p:sp>
    </p:spTree>
    <p:extLst>
      <p:ext uri="{BB962C8B-B14F-4D97-AF65-F5344CB8AC3E}">
        <p14:creationId xmlns:p14="http://schemas.microsoft.com/office/powerpoint/2010/main" val="304715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D28F-9485-6217-716E-12E0BF7AFB80}"/>
              </a:ext>
            </a:extLst>
          </p:cNvPr>
          <p:cNvSpPr>
            <a:spLocks noGrp="1"/>
          </p:cNvSpPr>
          <p:nvPr>
            <p:ph type="title"/>
          </p:nvPr>
        </p:nvSpPr>
        <p:spPr>
          <a:xfrm>
            <a:off x="426997" y="3018408"/>
            <a:ext cx="8961120" cy="3247475"/>
          </a:xfrm>
        </p:spPr>
        <p:txBody>
          <a:bodyPr anchor="b">
            <a:normAutofit/>
          </a:bodyPr>
          <a:lstStyle/>
          <a:p>
            <a:r>
              <a:rPr lang="en-US"/>
              <a:t>Introduction and Context</a:t>
            </a:r>
          </a:p>
        </p:txBody>
      </p:sp>
    </p:spTree>
    <p:extLst>
      <p:ext uri="{BB962C8B-B14F-4D97-AF65-F5344CB8AC3E}">
        <p14:creationId xmlns:p14="http://schemas.microsoft.com/office/powerpoint/2010/main" val="3981634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604D-1528-05B1-FEFD-C14310F81507}"/>
              </a:ext>
            </a:extLst>
          </p:cNvPr>
          <p:cNvSpPr>
            <a:spLocks noGrp="1"/>
          </p:cNvSpPr>
          <p:nvPr>
            <p:ph type="title"/>
          </p:nvPr>
        </p:nvSpPr>
        <p:spPr>
          <a:xfrm>
            <a:off x="4848555" y="512011"/>
            <a:ext cx="6792069" cy="1259920"/>
          </a:xfrm>
        </p:spPr>
        <p:txBody>
          <a:bodyPr anchor="b">
            <a:normAutofit/>
          </a:bodyPr>
          <a:lstStyle/>
          <a:p>
            <a:r>
              <a:rPr lang="en-US"/>
              <a:t>Understanding ABC’s Challenge</a:t>
            </a:r>
          </a:p>
        </p:txBody>
      </p:sp>
      <p:pic>
        <p:nvPicPr>
          <p:cNvPr id="5" name="Content Placeholder 4" descr="Shot of a group of colleagues using digital tablet together during a meeting in a modern office">
            <a:extLst>
              <a:ext uri="{FF2B5EF4-FFF2-40B4-BE49-F238E27FC236}">
                <a16:creationId xmlns:a16="http://schemas.microsoft.com/office/drawing/2014/main" id="{BD85872F-5813-4499-B7F7-A157BC6B88B4}"/>
              </a:ext>
            </a:extLst>
          </p:cNvPr>
          <p:cNvPicPr>
            <a:picLocks noGrp="1" noChangeAspect="1"/>
          </p:cNvPicPr>
          <p:nvPr>
            <p:ph type="pic" sz="quarter" idx="13"/>
          </p:nvPr>
        </p:nvPicPr>
        <p:blipFill>
          <a:blip r:embed="rId3"/>
          <a:srcRect l="21315" r="32886"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E8F0473A-4FB7-C506-7DDE-71E15C4F09E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Current Business Stagnation</a:t>
            </a:r>
          </a:p>
          <a:p>
            <a:pPr marL="0" lvl="1" indent="0">
              <a:lnSpc>
                <a:spcPct val="110000"/>
              </a:lnSpc>
              <a:buFont typeface="Arial" panose="020B0604020202020204" pitchFamily="34" charset="0"/>
              <a:buNone/>
            </a:pPr>
            <a:r>
              <a:t>ABC’s widget division is experiencing stagnation amid intense market competition and lacks innovation momentum.</a:t>
            </a:r>
            <a:endParaRPr lang="en-US"/>
          </a:p>
          <a:p>
            <a:pPr marL="0" indent="0">
              <a:lnSpc>
                <a:spcPct val="110000"/>
              </a:lnSpc>
              <a:spcBef>
                <a:spcPts val="2500"/>
              </a:spcBef>
              <a:buFont typeface="Arial" panose="020B0604020202020204" pitchFamily="34" charset="0"/>
              <a:buNone/>
            </a:pPr>
            <a:r>
              <a:rPr lang="en-US" b="1"/>
              <a:t>Need for Growth Strategy</a:t>
            </a:r>
          </a:p>
          <a:p>
            <a:pPr marL="0" lvl="1" indent="0">
              <a:lnSpc>
                <a:spcPct val="110000"/>
              </a:lnSpc>
              <a:buFont typeface="Arial" panose="020B0604020202020204" pitchFamily="34" charset="0"/>
              <a:buNone/>
            </a:pPr>
            <a:r>
              <a:t>A comprehensive growth strategy is essential to revitalize the division and ensure sustainable success.</a:t>
            </a:r>
            <a:endParaRPr lang="en-US"/>
          </a:p>
          <a:p>
            <a:pPr marL="0" indent="0">
              <a:lnSpc>
                <a:spcPct val="110000"/>
              </a:lnSpc>
              <a:spcBef>
                <a:spcPts val="2500"/>
              </a:spcBef>
              <a:buFont typeface="Arial" panose="020B0604020202020204" pitchFamily="34" charset="0"/>
              <a:buNone/>
            </a:pPr>
            <a:r>
              <a:rPr lang="en-US" b="1"/>
              <a:t>Aligning with Company Culture</a:t>
            </a:r>
          </a:p>
          <a:p>
            <a:pPr marL="0" lvl="1" indent="0">
              <a:lnSpc>
                <a:spcPct val="110000"/>
              </a:lnSpc>
              <a:buFont typeface="Arial" panose="020B0604020202020204" pitchFamily="34" charset="0"/>
              <a:buNone/>
            </a:pPr>
            <a:r>
              <a:t>Any proposed solution must align with ABC’s organizational culture and long-term objectives for effective implementation.</a:t>
            </a:r>
            <a:endParaRPr lang="en-US"/>
          </a:p>
          <a:p>
            <a:pPr marL="0" indent="0">
              <a:lnSpc>
                <a:spcPct val="110000"/>
              </a:lnSpc>
              <a:spcBef>
                <a:spcPts val="2500"/>
              </a:spcBef>
              <a:buFont typeface="Arial" panose="020B0604020202020204" pitchFamily="34" charset="0"/>
              <a:buNone/>
            </a:pPr>
            <a:r>
              <a:rPr lang="en-US" b="1"/>
              <a:t>Risks Without Clear Plan</a:t>
            </a:r>
          </a:p>
          <a:p>
            <a:pPr marL="0" lvl="1" indent="0">
              <a:lnSpc>
                <a:spcPct val="110000"/>
              </a:lnSpc>
              <a:buFont typeface="Arial" panose="020B0604020202020204" pitchFamily="34" charset="0"/>
              <a:buNone/>
            </a:pPr>
            <a:r>
              <a:t>Without a clear roadmap, ABC risks losing market share and profitability, threatening its future growth.</a:t>
            </a:r>
            <a:endParaRPr lang="en-US"/>
          </a:p>
        </p:txBody>
      </p:sp>
    </p:spTree>
    <p:extLst>
      <p:ext uri="{BB962C8B-B14F-4D97-AF65-F5344CB8AC3E}">
        <p14:creationId xmlns:p14="http://schemas.microsoft.com/office/powerpoint/2010/main" val="1933682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7388-87B0-AB5F-B645-C348FBE430F8}"/>
              </a:ext>
            </a:extLst>
          </p:cNvPr>
          <p:cNvSpPr>
            <a:spLocks noGrp="1"/>
          </p:cNvSpPr>
          <p:nvPr>
            <p:ph type="title"/>
          </p:nvPr>
        </p:nvSpPr>
        <p:spPr>
          <a:xfrm>
            <a:off x="426997" y="3018408"/>
            <a:ext cx="8961120" cy="3247475"/>
          </a:xfrm>
        </p:spPr>
        <p:txBody>
          <a:bodyPr anchor="b">
            <a:normAutofit/>
          </a:bodyPr>
          <a:lstStyle/>
          <a:p>
            <a:r>
              <a:rPr lang="en-US"/>
              <a:t>Why Big B Consulting?</a:t>
            </a:r>
          </a:p>
        </p:txBody>
      </p:sp>
    </p:spTree>
    <p:extLst>
      <p:ext uri="{BB962C8B-B14F-4D97-AF65-F5344CB8AC3E}">
        <p14:creationId xmlns:p14="http://schemas.microsoft.com/office/powerpoint/2010/main" val="97041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ABA7-E0E8-CC8D-151C-64AD66E77DF4}"/>
              </a:ext>
            </a:extLst>
          </p:cNvPr>
          <p:cNvSpPr>
            <a:spLocks noGrp="1"/>
          </p:cNvSpPr>
          <p:nvPr>
            <p:ph type="title"/>
          </p:nvPr>
        </p:nvSpPr>
        <p:spPr>
          <a:xfrm>
            <a:off x="4848555" y="512011"/>
            <a:ext cx="6792069" cy="1259920"/>
          </a:xfrm>
        </p:spPr>
        <p:txBody>
          <a:bodyPr anchor="b">
            <a:normAutofit/>
          </a:bodyPr>
          <a:lstStyle/>
          <a:p>
            <a:r>
              <a:rPr lang="en-US"/>
              <a:t>Firm’s Strengths and Differentiators</a:t>
            </a:r>
          </a:p>
        </p:txBody>
      </p:sp>
      <p:pic>
        <p:nvPicPr>
          <p:cNvPr id="5" name="Content Placeholder 4" descr="Young businessman reading sales reports">
            <a:extLst>
              <a:ext uri="{FF2B5EF4-FFF2-40B4-BE49-F238E27FC236}">
                <a16:creationId xmlns:a16="http://schemas.microsoft.com/office/drawing/2014/main" id="{E3C4BA41-BBD1-4D22-8A9A-01820127A3DB}"/>
              </a:ext>
            </a:extLst>
          </p:cNvPr>
          <p:cNvPicPr>
            <a:picLocks noGrp="1" noChangeAspect="1"/>
          </p:cNvPicPr>
          <p:nvPr>
            <p:ph type="pic" sz="quarter" idx="13"/>
          </p:nvPr>
        </p:nvPicPr>
        <p:blipFill>
          <a:blip r:embed="rId3"/>
          <a:srcRect l="39011" r="16196"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B36FF218-62A1-A5DB-D1DA-B3F81160662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Expertise in Growth Strategies</a:t>
            </a:r>
          </a:p>
          <a:p>
            <a:pPr marL="0" lvl="1" indent="0">
              <a:lnSpc>
                <a:spcPct val="110000"/>
              </a:lnSpc>
              <a:buFont typeface="Arial" panose="020B0604020202020204" pitchFamily="34" charset="0"/>
              <a:buNone/>
            </a:pPr>
            <a:r>
              <a:t>Big B Consulting has a strong record of crafting effective growth strategies and driving organizational change.</a:t>
            </a:r>
            <a:endParaRPr lang="en-US"/>
          </a:p>
          <a:p>
            <a:pPr marL="0" indent="0">
              <a:lnSpc>
                <a:spcPct val="110000"/>
              </a:lnSpc>
              <a:spcBef>
                <a:spcPts val="2500"/>
              </a:spcBef>
              <a:buFont typeface="Arial" panose="020B0604020202020204" pitchFamily="34" charset="0"/>
              <a:buNone/>
            </a:pPr>
            <a:r>
              <a:rPr lang="en-US" b="1"/>
              <a:t>Tailored Client Solutions</a:t>
            </a:r>
          </a:p>
          <a:p>
            <a:pPr marL="0" lvl="1" indent="0">
              <a:lnSpc>
                <a:spcPct val="110000"/>
              </a:lnSpc>
              <a:buFont typeface="Arial" panose="020B0604020202020204" pitchFamily="34" charset="0"/>
              <a:buNone/>
            </a:pPr>
            <a:r>
              <a:t>The firm uses deep industry knowledge and global best practices to deliver customized solutions for client challenges.</a:t>
            </a:r>
            <a:endParaRPr lang="en-US"/>
          </a:p>
          <a:p>
            <a:pPr marL="0" indent="0">
              <a:lnSpc>
                <a:spcPct val="110000"/>
              </a:lnSpc>
              <a:spcBef>
                <a:spcPts val="2500"/>
              </a:spcBef>
              <a:buFont typeface="Arial" panose="020B0604020202020204" pitchFamily="34" charset="0"/>
              <a:buNone/>
            </a:pPr>
            <a:r>
              <a:rPr lang="en-US" b="1"/>
              <a:t>Collaborative Approach</a:t>
            </a:r>
          </a:p>
          <a:p>
            <a:pPr marL="0" lvl="1" indent="0">
              <a:lnSpc>
                <a:spcPct val="110000"/>
              </a:lnSpc>
              <a:buFont typeface="Arial" panose="020B0604020202020204" pitchFamily="34" charset="0"/>
              <a:buNone/>
            </a:pPr>
            <a:r>
              <a:t>Big B ensures cultural alignment and engages stakeholders throughout the transformation process for successful outcomes.</a:t>
            </a:r>
            <a:endParaRPr lang="en-US"/>
          </a:p>
          <a:p>
            <a:pPr marL="0" indent="0">
              <a:lnSpc>
                <a:spcPct val="110000"/>
              </a:lnSpc>
              <a:spcBef>
                <a:spcPts val="2500"/>
              </a:spcBef>
              <a:buFont typeface="Arial" panose="020B0604020202020204" pitchFamily="34" charset="0"/>
              <a:buNone/>
            </a:pPr>
            <a:r>
              <a:rPr lang="en-US" b="1"/>
              <a:t>Analytical Rigor and Execution</a:t>
            </a:r>
          </a:p>
          <a:p>
            <a:pPr marL="0" lvl="1" indent="0">
              <a:lnSpc>
                <a:spcPct val="110000"/>
              </a:lnSpc>
              <a:buFont typeface="Arial" panose="020B0604020202020204" pitchFamily="34" charset="0"/>
              <a:buNone/>
            </a:pPr>
            <a:r>
              <a:t>Combining analytical rigor with practical implementation ensures strategies are visionary and executable.</a:t>
            </a:r>
            <a:endParaRPr lang="en-US"/>
          </a:p>
        </p:txBody>
      </p:sp>
    </p:spTree>
    <p:extLst>
      <p:ext uri="{BB962C8B-B14F-4D97-AF65-F5344CB8AC3E}">
        <p14:creationId xmlns:p14="http://schemas.microsoft.com/office/powerpoint/2010/main" val="3901273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884AE-430A-A78D-F14F-C4C9C4589222}"/>
              </a:ext>
            </a:extLst>
          </p:cNvPr>
          <p:cNvSpPr>
            <a:spLocks noGrp="1"/>
          </p:cNvSpPr>
          <p:nvPr>
            <p:ph type="title"/>
          </p:nvPr>
        </p:nvSpPr>
        <p:spPr>
          <a:xfrm>
            <a:off x="426997" y="3018408"/>
            <a:ext cx="8961120" cy="3247475"/>
          </a:xfrm>
        </p:spPr>
        <p:txBody>
          <a:bodyPr anchor="b">
            <a:normAutofit/>
          </a:bodyPr>
          <a:lstStyle/>
          <a:p>
            <a:r>
              <a:rPr lang="en-US"/>
              <a:t>Proposed Scope of Work</a:t>
            </a:r>
          </a:p>
        </p:txBody>
      </p:sp>
    </p:spTree>
    <p:extLst>
      <p:ext uri="{BB962C8B-B14F-4D97-AF65-F5344CB8AC3E}">
        <p14:creationId xmlns:p14="http://schemas.microsoft.com/office/powerpoint/2010/main" val="1280811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4FA61-60FA-04F5-935F-635236691A51}"/>
              </a:ext>
            </a:extLst>
          </p:cNvPr>
          <p:cNvSpPr>
            <a:spLocks noGrp="1"/>
          </p:cNvSpPr>
          <p:nvPr>
            <p:ph type="title"/>
          </p:nvPr>
        </p:nvSpPr>
        <p:spPr>
          <a:xfrm>
            <a:off x="399679" y="332308"/>
            <a:ext cx="11253667" cy="909921"/>
          </a:xfrm>
        </p:spPr>
        <p:txBody>
          <a:bodyPr anchor="b">
            <a:normAutofit/>
          </a:bodyPr>
          <a:lstStyle/>
          <a:p>
            <a:r>
              <a:rPr lang="en-US"/>
              <a:t>Consulting Engagement Deliverables</a:t>
            </a:r>
          </a:p>
        </p:txBody>
      </p:sp>
      <p:graphicFrame>
        <p:nvGraphicFramePr>
          <p:cNvPr id="5" name="Content Placeholder 4">
            <a:extLst>
              <a:ext uri="{FF2B5EF4-FFF2-40B4-BE49-F238E27FC236}">
                <a16:creationId xmlns:a16="http://schemas.microsoft.com/office/drawing/2014/main" id="{080EC44A-F680-436C-8AD7-8A212F44B027}"/>
              </a:ext>
            </a:extLst>
          </p:cNvPr>
          <p:cNvGraphicFramePr>
            <a:graphicFrameLocks noGrp="1"/>
          </p:cNvGraphicFramePr>
          <p:nvPr>
            <p:ph idx="1"/>
          </p:nvPr>
        </p:nvGraphicFramePr>
        <p:xfrm>
          <a:off x="511414" y="1488931"/>
          <a:ext cx="11035512" cy="4700764"/>
        </p:xfrm>
        <a:graphic>
          <a:graphicData uri="http://schemas.openxmlformats.org/drawingml/2006/table">
            <a:tbl>
              <a:tblPr firstRow="1" bandRow="1">
                <a:noFill/>
                <a:tableStyleId>{5C22544A-7EE6-4342-B048-85BDC9FD1C3A}</a:tableStyleId>
              </a:tblPr>
              <a:tblGrid>
                <a:gridCol w="3977943">
                  <a:extLst>
                    <a:ext uri="{9D8B030D-6E8A-4147-A177-3AD203B41FA5}">
                      <a16:colId xmlns:a16="http://schemas.microsoft.com/office/drawing/2014/main" val="1633724900"/>
                    </a:ext>
                  </a:extLst>
                </a:gridCol>
                <a:gridCol w="7057569">
                  <a:extLst>
                    <a:ext uri="{9D8B030D-6E8A-4147-A177-3AD203B41FA5}">
                      <a16:colId xmlns:a16="http://schemas.microsoft.com/office/drawing/2014/main" val="1154889572"/>
                    </a:ext>
                  </a:extLst>
                </a:gridCol>
              </a:tblGrid>
              <a:tr h="790701">
                <a:tc>
                  <a:txBody>
                    <a:bodyPr/>
                    <a:lstStyle/>
                    <a:p>
                      <a:pPr>
                        <a:buNone/>
                      </a:pPr>
                      <a:r>
                        <a:rPr lang="en-US" sz="2300" b="1" cap="all" spc="150">
                          <a:solidFill>
                            <a:schemeClr val="tx1"/>
                          </a:solidFill>
                        </a:rPr>
                        <a:t>Scope Component</a:t>
                      </a:r>
                    </a:p>
                  </a:txBody>
                  <a:tcPr marL="195503" marR="195503" marT="195503" marB="195503"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300" b="1" cap="all" spc="150">
                          <a:solidFill>
                            <a:schemeClr val="tx1"/>
                          </a:solidFill>
                        </a:rPr>
                        <a:t>Description</a:t>
                      </a:r>
                    </a:p>
                  </a:txBody>
                  <a:tcPr marL="195503" marR="195503" marT="195503" marB="195503"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66907122"/>
                  </a:ext>
                </a:extLst>
              </a:tr>
              <a:tr h="1007927">
                <a:tc>
                  <a:txBody>
                    <a:bodyPr/>
                    <a:lstStyle/>
                    <a:p>
                      <a:pPr>
                        <a:buNone/>
                      </a:pPr>
                      <a:r>
                        <a:rPr lang="en-US" sz="1900" b="1" cap="none" spc="0">
                          <a:solidFill>
                            <a:schemeClr val="tx1"/>
                          </a:solidFill>
                        </a:rPr>
                        <a:t>Market Analysis</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Assess industry trends, competitor strategies, and emerging technologies</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6426803"/>
                  </a:ext>
                </a:extLst>
              </a:tr>
              <a:tr h="725534">
                <a:tc>
                  <a:txBody>
                    <a:bodyPr/>
                    <a:lstStyle/>
                    <a:p>
                      <a:pPr>
                        <a:buNone/>
                      </a:pPr>
                      <a:r>
                        <a:rPr lang="en-US" sz="1900" b="1" cap="none" spc="0">
                          <a:solidFill>
                            <a:schemeClr val="tx1"/>
                          </a:solidFill>
                        </a:rPr>
                        <a:t>Growth Opportunities</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Explore new markets, product diversification, and partnerships</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36365742"/>
                  </a:ext>
                </a:extLst>
              </a:tr>
              <a:tr h="725534">
                <a:tc>
                  <a:txBody>
                    <a:bodyPr/>
                    <a:lstStyle/>
                    <a:p>
                      <a:pPr>
                        <a:buNone/>
                      </a:pPr>
                      <a:r>
                        <a:rPr lang="en-US" sz="1900" b="1" cap="none" spc="0">
                          <a:solidFill>
                            <a:schemeClr val="tx1"/>
                          </a:solidFill>
                        </a:rPr>
                        <a:t>Strategy Development</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Define objectives, resource allocation, and risk mitigation</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408352155"/>
                  </a:ext>
                </a:extLst>
              </a:tr>
              <a:tr h="725534">
                <a:tc>
                  <a:txBody>
                    <a:bodyPr/>
                    <a:lstStyle/>
                    <a:p>
                      <a:pPr>
                        <a:buNone/>
                      </a:pPr>
                      <a:r>
                        <a:rPr lang="en-US" sz="1900" b="1" cap="none" spc="0">
                          <a:solidFill>
                            <a:schemeClr val="tx1"/>
                          </a:solidFill>
                        </a:rPr>
                        <a:t>Implementation Roadmap</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Provide timelines, milestones, and KPIs for execution</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1223308"/>
                  </a:ext>
                </a:extLst>
              </a:tr>
              <a:tr h="725534">
                <a:tc>
                  <a:txBody>
                    <a:bodyPr/>
                    <a:lstStyle/>
                    <a:p>
                      <a:pPr>
                        <a:buNone/>
                      </a:pPr>
                      <a:r>
                        <a:rPr lang="en-US" sz="1900" b="1" cap="none" spc="0">
                          <a:solidFill>
                            <a:schemeClr val="tx1"/>
                          </a:solidFill>
                        </a:rPr>
                        <a:t>Change Management</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900" cap="none" spc="0">
                          <a:solidFill>
                            <a:schemeClr val="tx1"/>
                          </a:solidFill>
                        </a:rPr>
                        <a:t>Align stakeholders and build organizational capabilities</a:t>
                      </a:r>
                    </a:p>
                  </a:txBody>
                  <a:tcPr marL="195503" marR="195503" marT="195503" marB="195503"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2394011784"/>
                  </a:ext>
                </a:extLst>
              </a:tr>
            </a:tbl>
          </a:graphicData>
        </a:graphic>
      </p:graphicFrame>
    </p:spTree>
    <p:extLst>
      <p:ext uri="{BB962C8B-B14F-4D97-AF65-F5344CB8AC3E}">
        <p14:creationId xmlns:p14="http://schemas.microsoft.com/office/powerpoint/2010/main" val="22751457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58EE-F6ED-D371-6DA2-AB8DDB4F5440}"/>
              </a:ext>
            </a:extLst>
          </p:cNvPr>
          <p:cNvSpPr>
            <a:spLocks noGrp="1"/>
          </p:cNvSpPr>
          <p:nvPr>
            <p:ph type="title"/>
          </p:nvPr>
        </p:nvSpPr>
        <p:spPr>
          <a:xfrm>
            <a:off x="426997" y="3018408"/>
            <a:ext cx="8961120" cy="3247475"/>
          </a:xfrm>
        </p:spPr>
        <p:txBody>
          <a:bodyPr anchor="b">
            <a:normAutofit/>
          </a:bodyPr>
          <a:lstStyle/>
          <a:p>
            <a:r>
              <a:rPr lang="en-US"/>
              <a:t>Value Proposition and Next Steps</a:t>
            </a:r>
          </a:p>
        </p:txBody>
      </p:sp>
    </p:spTree>
    <p:extLst>
      <p:ext uri="{BB962C8B-B14F-4D97-AF65-F5344CB8AC3E}">
        <p14:creationId xmlns:p14="http://schemas.microsoft.com/office/powerpoint/2010/main" val="2383073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7752-AF73-250B-F3D4-7A9F0B3F0F3E}"/>
              </a:ext>
            </a:extLst>
          </p:cNvPr>
          <p:cNvSpPr>
            <a:spLocks noGrp="1"/>
          </p:cNvSpPr>
          <p:nvPr>
            <p:ph type="title"/>
          </p:nvPr>
        </p:nvSpPr>
        <p:spPr>
          <a:xfrm>
            <a:off x="8029814" y="512011"/>
            <a:ext cx="3628786" cy="1259920"/>
          </a:xfrm>
        </p:spPr>
        <p:txBody>
          <a:bodyPr anchor="b">
            <a:normAutofit/>
          </a:bodyPr>
          <a:lstStyle/>
          <a:p>
            <a:r>
              <a:rPr lang="en-US" sz="2700"/>
              <a:t>Delivering Impact and Engagement Plan</a:t>
            </a:r>
          </a:p>
        </p:txBody>
      </p:sp>
      <p:pic>
        <p:nvPicPr>
          <p:cNvPr id="5" name="Content Placeholder 4" descr="Group of business people on a business meeting, working on a presentation, working in a team, searching for solutions, junior and senior partners">
            <a:extLst>
              <a:ext uri="{FF2B5EF4-FFF2-40B4-BE49-F238E27FC236}">
                <a16:creationId xmlns:a16="http://schemas.microsoft.com/office/drawing/2014/main" id="{8487877F-E162-4324-8763-83CD6DF0EB71}"/>
              </a:ext>
            </a:extLst>
          </p:cNvPr>
          <p:cNvPicPr>
            <a:picLocks noGrp="1" noChangeAspect="1"/>
          </p:cNvPicPr>
          <p:nvPr>
            <p:ph type="pic" sz="quarter" idx="13"/>
          </p:nvPr>
        </p:nvPicPr>
        <p:blipFill>
          <a:blip r:embed="rId3"/>
          <a:srcRect l="7980" r="10340" b="1"/>
          <a:stretch>
            <a:fillRect/>
          </a:stretch>
        </p:blipFill>
        <p:spPr>
          <a:xfrm>
            <a:off x="533400" y="533399"/>
            <a:ext cx="7086600" cy="5791199"/>
          </a:xfrm>
          <a:prstGeom prst="rect">
            <a:avLst/>
          </a:prstGeom>
          <a:noFill/>
        </p:spPr>
      </p:pic>
      <p:sp>
        <p:nvSpPr>
          <p:cNvPr id="4" name="Content Placeholder 3">
            <a:extLst>
              <a:ext uri="{FF2B5EF4-FFF2-40B4-BE49-F238E27FC236}">
                <a16:creationId xmlns:a16="http://schemas.microsoft.com/office/drawing/2014/main" id="{249F4530-712C-E915-61F8-28B5D75C6BC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Value Proposition</a:t>
            </a:r>
          </a:p>
          <a:p>
            <a:pPr marL="0" lvl="1" indent="0">
              <a:buFont typeface="Arial" panose="020B0604020202020204" pitchFamily="34" charset="0"/>
              <a:buNone/>
            </a:pPr>
            <a:r>
              <a:t>Big B Consulting delivers actionable insights and strategies tailored to client challenges for sustainable growth.</a:t>
            </a:r>
            <a:endParaRPr lang="en-US"/>
          </a:p>
          <a:p>
            <a:pPr marL="0" indent="0">
              <a:spcBef>
                <a:spcPts val="2500"/>
              </a:spcBef>
              <a:buFont typeface="Arial" panose="020B0604020202020204" pitchFamily="34" charset="0"/>
              <a:buNone/>
            </a:pPr>
            <a:r>
              <a:rPr lang="en-US" b="1"/>
              <a:t>Customized Solutions</a:t>
            </a:r>
          </a:p>
          <a:p>
            <a:pPr marL="0" lvl="1" indent="0">
              <a:buFont typeface="Arial" panose="020B0604020202020204" pitchFamily="34" charset="0"/>
              <a:buNone/>
            </a:pPr>
            <a:r>
              <a:t>Solutions are customized to ABC’s operational realities, ensuring practical and effective execution.</a:t>
            </a:r>
            <a:endParaRPr lang="en-US"/>
          </a:p>
          <a:p>
            <a:pPr marL="0" indent="0">
              <a:spcBef>
                <a:spcPts val="2500"/>
              </a:spcBef>
              <a:buFont typeface="Arial" panose="020B0604020202020204" pitchFamily="34" charset="0"/>
              <a:buNone/>
            </a:pPr>
            <a:r>
              <a:rPr lang="en-US" b="1"/>
              <a:t>Next Steps and Collaboration</a:t>
            </a:r>
          </a:p>
          <a:p>
            <a:pPr marL="0" lvl="1" indent="0">
              <a:buFont typeface="Arial" panose="020B0604020202020204" pitchFamily="34" charset="0"/>
              <a:buNone/>
            </a:pPr>
            <a:r>
              <a:t>Scheduling scoping sessions to refine objectives and align partnership for successful project initiation.</a:t>
            </a:r>
            <a:endParaRPr lang="en-US"/>
          </a:p>
        </p:txBody>
      </p:sp>
    </p:spTree>
    <p:extLst>
      <p:ext uri="{BB962C8B-B14F-4D97-AF65-F5344CB8AC3E}">
        <p14:creationId xmlns:p14="http://schemas.microsoft.com/office/powerpoint/2010/main" val="4133613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2.xml><?xml version="1.0" encoding="utf-8"?>
<ds:datastoreItem xmlns:ds="http://schemas.openxmlformats.org/officeDocument/2006/customXml" ds:itemID="{2EA6ECCF-1C9D-4352-BA6F-79122165958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251039-0B1C-45AD-BDF3-E784F1E00F4E}">
  <ds:schemaRefs>
    <ds:schemaRef ds:uri="http://schemas.microsoft.com/sharepoint/v3"/>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www.w3.org/XML/1998/namespace"/>
    <ds:schemaRef ds:uri="http://schemas.microsoft.com/office/2006/metadata/properties"/>
    <ds:schemaRef ds:uri="230e9df3-be65-4c73-a93b-d1236ebd677e"/>
    <ds:schemaRef ds:uri="16c05727-aa75-4e4a-9b5f-8a80a1165891"/>
    <ds:schemaRef ds:uri="71af3243-3dd4-4a8d-8c0d-dd76da1f02a5"/>
    <ds:schemaRef ds:uri="http://purl.org/dc/dcmitype/"/>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Lines</Template>
  <TotalTime>0</TotalTime>
  <Words>814</Words>
  <Application>Microsoft Office PowerPoint</Application>
  <PresentationFormat>Widescreen</PresentationFormat>
  <Paragraphs>62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Nova Light</vt:lpstr>
      <vt:lpstr>Calibri</vt:lpstr>
      <vt:lpstr>Univers Condensed</vt:lpstr>
      <vt:lpstr>Lines</vt:lpstr>
      <vt:lpstr>Big B Consulting – Growth Strategy Proposal for ABC Corporation</vt:lpstr>
      <vt:lpstr>Introduction and Context</vt:lpstr>
      <vt:lpstr>Understanding ABC’s Challenge</vt:lpstr>
      <vt:lpstr>Why Big B Consulting?</vt:lpstr>
      <vt:lpstr>Firm’s Strengths and Differentiators</vt:lpstr>
      <vt:lpstr>Proposed Scope of Work</vt:lpstr>
      <vt:lpstr>Consulting Engagement Deliverables</vt:lpstr>
      <vt:lpstr>Value Proposition and Next Steps</vt:lpstr>
      <vt:lpstr>Delivering Impact and Engagement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Ghosh, Sandeep</dc:creator>
  <cp:lastModifiedBy>Ghosh, Sandeep</cp:lastModifiedBy>
  <cp:revision>3</cp:revision>
  <dcterms:created xsi:type="dcterms:W3CDTF">2025-08-04T19:15:43Z</dcterms:created>
  <dcterms:modified xsi:type="dcterms:W3CDTF">2025-11-20T13:56:48Z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